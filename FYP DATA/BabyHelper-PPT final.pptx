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725" r:id="rId4"/>
  </p:sldMasterIdLst>
  <p:notesMasterIdLst>
    <p:notesMasterId r:id="rId24"/>
  </p:notesMasterIdLst>
  <p:handoutMasterIdLst>
    <p:handoutMasterId r:id="rId25"/>
  </p:handoutMasterIdLst>
  <p:sldIdLst>
    <p:sldId id="376" r:id="rId5"/>
    <p:sldId id="390" r:id="rId6"/>
    <p:sldId id="388" r:id="rId7"/>
    <p:sldId id="391" r:id="rId8"/>
    <p:sldId id="392" r:id="rId9"/>
    <p:sldId id="396" r:id="rId10"/>
    <p:sldId id="397" r:id="rId11"/>
    <p:sldId id="379" r:id="rId12"/>
    <p:sldId id="398" r:id="rId13"/>
    <p:sldId id="399" r:id="rId14"/>
    <p:sldId id="401" r:id="rId15"/>
    <p:sldId id="402" r:id="rId16"/>
    <p:sldId id="395" r:id="rId17"/>
    <p:sldId id="403" r:id="rId18"/>
    <p:sldId id="380" r:id="rId19"/>
    <p:sldId id="393" r:id="rId20"/>
    <p:sldId id="384" r:id="rId21"/>
    <p:sldId id="389" r:id="rId22"/>
    <p:sldId id="38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5388" autoAdjust="0"/>
  </p:normalViewPr>
  <p:slideViewPr>
    <p:cSldViewPr snapToGrid="0" showGuides="1">
      <p:cViewPr varScale="1">
        <p:scale>
          <a:sx n="68" d="100"/>
          <a:sy n="68" d="100"/>
        </p:scale>
        <p:origin x="492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5/8/2026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EC4C7D-9F32-3DD5-0898-0A64AB3E48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CD56122-AE93-63D3-9B51-14AA353EC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0B457C0-C5F0-38B3-A5A4-4CF83DA5DC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608DDE2-7690-8BBF-1E41-BF40F26AF1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4A70176D-1CA9-F362-DA0D-140ADC80AB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B557568-DAFA-B892-D220-F9088C690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5920ECF3-A4B7-A9A1-C23F-56EDD775AC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A92B7FF-F522-FFD6-3A37-5C7F5CB3A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718010FC-71DC-C4A0-BBE6-35E03F05FE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512EE29-359B-8558-2A40-DB8D4D256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0CCBBEB-A224-6D89-748B-8053ED48B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hyperlink" Target="https://www.sleepwellbaby.io/" TargetMode="External"/><Relationship Id="rId2" Type="http://schemas.openxmlformats.org/officeDocument/2006/relationships/hyperlink" Target="https://www.google.com/search?sca_esv=0fa8021822713b50&amp;cs=0&amp;sxsrf=AHTn8zoTZPmgQpEvVMKYiT2-sPV8bBuQDA:1741909889014&amp;q=Cry+Analyzer+-+baby+translator&amp;stick=H4sIAAAAAAAAAOMwVGI0-MUo5FhQkJOZnFiSmZ9XrKCvkFxU-YuJI97VL8QzJDJ-AwvjKxZ-Ll79dH1Dw4zclKT4lCoLhEiZcbZFVnlVOUIk2yA3KT2nvBBJxMykMMu0KA9JV3JhnkVJcgaSSGVSkUVyoTlCJKuoOKsgrwJJpNw4OSWlsLIERU1OWUp5MrJdFZaGKUW5yCKmyVkl6UkIkaLKwrJsQ0skXxSXxxeWmxulIZmclWNYmZWE5OaMtHTz8rQCMySTjQ3jkwtyUESMDHIqTSoRIoUmZkbp2RVIPi0os8g2z8hOW8Qq51xUqeCYl5hTWZVapKCrkJSYVKlQUpSYV5yTWJJfdItNkiHML_yz0zq-1jeXnQsXC2rU7Luo83K9z_uMSRw8yLE2iYMZGGsAVlmCTNABAAA&amp;sa=X&amp;ved=2ahUKEwjq9qeBoIiMAxVI9rsIHe9aPeoQ7fAIegUIABCWAQ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lay.google.com/store/apps/details?id=com.fehnerssoftware.babyfeedtimer&amp;hl=en" TargetMode="External"/><Relationship Id="rId5" Type="http://schemas.openxmlformats.org/officeDocument/2006/relationships/hyperlink" Target="https://www.google.com/search?sca_esv=0fa8021822713b50&amp;cs=0&amp;sxsrf=AHTn8zqQtuhp32Jjs41TBrhARqLvzqIKmg:1741909933553&amp;q=baby+tracker+-+newborn+log&amp;stick=H4sIAAAAAAAAAOMwVGI0-8Uo6ZSYVKmQWFBQrJCWX6SQl1quUJBYlJpXUvyLiSPe1S_EMyQyfgML4ysWDiG2gNTEvNKSVyw8QlzhqUm-LgpJQM2vWASF-MGmOJXmpeSkggx7xcLPxaufrm9omG1sZFhQlhSPJGJWYV5mmJOLECk3Tk5JKawsQYhk5KZk5KTlpiGbY1iWHm8IVMMlxAGyrSQzNxUhnRufEm9WmWT5ioVbiDMkM68yCejU4kWsUiAXKpQUJSZnpxYp6IL8l5RflKeQk59-i02SIcwv_HO4pYKw_5afgi3zc5w3r69Z47BvreAkDtzhAgBfb-OEOQEAAA&amp;sa=X&amp;ved=2ahUKEwjKzMaWoIiMAxU5_rsIHbyZNf0Q7fAIegUIABCDAQ" TargetMode="Externa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4890" y="768186"/>
            <a:ext cx="4592498" cy="2650075"/>
          </a:xfrm>
        </p:spPr>
        <p:txBody>
          <a:bodyPr/>
          <a:lstStyle/>
          <a:p>
            <a:r>
              <a:rPr lang="en-US" dirty="0" err="1"/>
              <a:t>BabyHelper</a:t>
            </a:r>
            <a:br>
              <a:rPr lang="en-US" dirty="0"/>
            </a:br>
            <a:r>
              <a:rPr lang="en-US" dirty="0"/>
              <a:t>AI</a:t>
            </a: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txBody>
          <a:bodyPr>
            <a:normAutofit/>
          </a:bodyPr>
          <a:lstStyle/>
          <a:p>
            <a:r>
              <a:rPr lang="en-US" sz="2400" dirty="0"/>
              <a:t>Supervised by: </a:t>
            </a:r>
          </a:p>
          <a:p>
            <a:r>
              <a:rPr lang="en-US" sz="2400" dirty="0"/>
              <a:t>Sir </a:t>
            </a:r>
            <a:r>
              <a:rPr lang="en-US" sz="2400" dirty="0" err="1"/>
              <a:t>Emad</a:t>
            </a:r>
            <a:r>
              <a:rPr lang="en-US" sz="2400" dirty="0"/>
              <a:t> AMJAD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1629" r="21629"/>
          <a:stretch/>
        </p:blipFill>
        <p:spPr>
          <a:xfrm>
            <a:off x="-28790" y="0"/>
            <a:ext cx="5705195" cy="6858000"/>
          </a:xfrm>
        </p:spPr>
      </p:pic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7244" y="796206"/>
            <a:ext cx="4631788" cy="996499"/>
          </a:xfrm>
        </p:spPr>
        <p:txBody>
          <a:bodyPr>
            <a:normAutofit fontScale="90000"/>
          </a:bodyPr>
          <a:lstStyle/>
          <a:p>
            <a:r>
              <a:rPr lang="en-US" sz="4400" b="1" u="sng" dirty="0"/>
              <a:t>Group Members: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7243" y="2525058"/>
            <a:ext cx="5437903" cy="254023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Ihsan Ullah Khan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Mir Muhammad Zeeshan</a:t>
            </a:r>
            <a:br>
              <a:rPr lang="en-US" sz="2800" dirty="0"/>
            </a:b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Tayyab</a:t>
            </a:r>
            <a:r>
              <a:rPr lang="en-US" sz="2800" dirty="0"/>
              <a:t> Khalid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1" y="0"/>
            <a:ext cx="4235115" cy="6862275"/>
          </a:xfrm>
        </p:spPr>
      </p:pic>
    </p:spTree>
    <p:extLst>
      <p:ext uri="{BB962C8B-B14F-4D97-AF65-F5344CB8AC3E}">
        <p14:creationId xmlns:p14="http://schemas.microsoft.com/office/powerpoint/2010/main" val="190102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Placeholder 82">
            <a:extLst>
              <a:ext uri="{FF2B5EF4-FFF2-40B4-BE49-F238E27FC236}">
                <a16:creationId xmlns:a16="http://schemas.microsoft.com/office/drawing/2014/main" id="{9F2CBF26-9F88-C836-7BBE-2C8D15399C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19877" y="-3219"/>
            <a:ext cx="4972123" cy="6858000"/>
          </a:xfrm>
        </p:spPr>
      </p:pic>
      <p:sp>
        <p:nvSpPr>
          <p:cNvPr id="96" name="Slide Number Placeholder 95">
            <a:extLst>
              <a:ext uri="{FF2B5EF4-FFF2-40B4-BE49-F238E27FC236}">
                <a16:creationId xmlns:a16="http://schemas.microsoft.com/office/drawing/2014/main" id="{3BD80834-FB15-847A-2C6B-65FA4C1A9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9" name="Title 118">
            <a:extLst>
              <a:ext uri="{FF2B5EF4-FFF2-40B4-BE49-F238E27FC236}">
                <a16:creationId xmlns:a16="http://schemas.microsoft.com/office/drawing/2014/main" id="{34974D2A-D531-9065-F011-B2A52FD62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3" y="320041"/>
            <a:ext cx="6664990" cy="796066"/>
          </a:xfrm>
        </p:spPr>
        <p:txBody>
          <a:bodyPr>
            <a:noAutofit/>
          </a:bodyPr>
          <a:lstStyle/>
          <a:p>
            <a:r>
              <a:rPr lang="en-US" b="1" u="sng" dirty="0"/>
              <a:t>Table of Contents: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FB8BB2-2253-F694-3F4B-48B183090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3346" y="4244214"/>
            <a:ext cx="788639" cy="5334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o6.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2F10C-DD1E-58B2-DE8A-900B513BB4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2370" y="1163528"/>
            <a:ext cx="5885179" cy="533400"/>
          </a:xfrm>
        </p:spPr>
        <p:txBody>
          <a:bodyPr/>
          <a:lstStyle/>
          <a:p>
            <a:r>
              <a:rPr lang="en-US" sz="2400" dirty="0"/>
              <a:t>Introduction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F3FD88-1E1E-60D7-6DBA-54883EB49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475" y="2428792"/>
            <a:ext cx="788639" cy="533400"/>
          </a:xfrm>
        </p:spPr>
        <p:txBody>
          <a:bodyPr/>
          <a:lstStyle/>
          <a:p>
            <a:r>
              <a:rPr lang="en-US" dirty="0"/>
              <a:t>o3.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DE41E67-4B27-8ADF-D2D1-675182477D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81986" y="2433291"/>
            <a:ext cx="5885179" cy="533400"/>
          </a:xfrm>
        </p:spPr>
        <p:txBody>
          <a:bodyPr>
            <a:normAutofit/>
          </a:bodyPr>
          <a:lstStyle/>
          <a:p>
            <a:r>
              <a:rPr lang="en-US" sz="2400" dirty="0"/>
              <a:t>Existing Solutions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ADDB23-D709-216E-09BB-D24BECACD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3347" y="3081961"/>
            <a:ext cx="788639" cy="533400"/>
          </a:xfrm>
        </p:spPr>
        <p:txBody>
          <a:bodyPr/>
          <a:lstStyle/>
          <a:p>
            <a:r>
              <a:rPr lang="en-US" dirty="0"/>
              <a:t>o4.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154CB8-8FD8-4E91-99AF-E3CF734228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52370" y="3058821"/>
            <a:ext cx="5885179" cy="533400"/>
          </a:xfrm>
        </p:spPr>
        <p:txBody>
          <a:bodyPr>
            <a:normAutofit/>
          </a:bodyPr>
          <a:lstStyle/>
          <a:p>
            <a:r>
              <a:rPr lang="en-US" sz="2400" dirty="0"/>
              <a:t>Solution: BabyHelper AI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E1F72F-5806-46E4-AC01-9413DBC58B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3346" y="3675854"/>
            <a:ext cx="788639" cy="533400"/>
          </a:xfrm>
        </p:spPr>
        <p:txBody>
          <a:bodyPr/>
          <a:lstStyle/>
          <a:p>
            <a:r>
              <a:rPr lang="en-US" dirty="0"/>
              <a:t>o5.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673EE5-354A-FD54-2A4E-F922E5E162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43378" y="3633380"/>
            <a:ext cx="5885179" cy="533400"/>
          </a:xfrm>
        </p:spPr>
        <p:txBody>
          <a:bodyPr>
            <a:normAutofit/>
          </a:bodyPr>
          <a:lstStyle/>
          <a:p>
            <a:r>
              <a:rPr lang="en-US" sz="2400" dirty="0"/>
              <a:t>Functional Requirements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EFEB83-8DF8-9418-13FD-C034C8279A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4738" y="1786693"/>
            <a:ext cx="788639" cy="533400"/>
          </a:xfrm>
        </p:spPr>
        <p:txBody>
          <a:bodyPr/>
          <a:lstStyle/>
          <a:p>
            <a:r>
              <a:rPr lang="en-US" dirty="0"/>
              <a:t>o2.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27C4889-BB27-08A2-E9DE-947634C2E2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1871" y="1786693"/>
            <a:ext cx="5885179" cy="533400"/>
          </a:xfrm>
        </p:spPr>
        <p:txBody>
          <a:bodyPr>
            <a:normAutofit/>
          </a:bodyPr>
          <a:lstStyle/>
          <a:p>
            <a:r>
              <a:rPr lang="en-US" sz="2400" dirty="0"/>
              <a:t>Proposed Approach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3A78732-6A77-06C0-D931-D7D867386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7B7D90C8-A3E9-289E-DC74-AFF053EFB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2FB8BB2-2253-F694-3F4B-48B183090726}"/>
              </a:ext>
            </a:extLst>
          </p:cNvPr>
          <p:cNvSpPr txBox="1">
            <a:spLocks/>
          </p:cNvSpPr>
          <p:nvPr/>
        </p:nvSpPr>
        <p:spPr>
          <a:xfrm>
            <a:off x="854740" y="1163528"/>
            <a:ext cx="788639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4400" b="0" kern="1200" spc="100" baseline="-25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o1.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2FB8BB2-2253-F694-3F4B-48B183090726}"/>
              </a:ext>
            </a:extLst>
          </p:cNvPr>
          <p:cNvSpPr txBox="1">
            <a:spLocks/>
          </p:cNvSpPr>
          <p:nvPr/>
        </p:nvSpPr>
        <p:spPr>
          <a:xfrm>
            <a:off x="893346" y="4820088"/>
            <a:ext cx="788639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4400" b="0" kern="1200" spc="100" baseline="-25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o7.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2FB8BB2-2253-F694-3F4B-48B183090726}"/>
              </a:ext>
            </a:extLst>
          </p:cNvPr>
          <p:cNvSpPr txBox="1">
            <a:spLocks/>
          </p:cNvSpPr>
          <p:nvPr/>
        </p:nvSpPr>
        <p:spPr>
          <a:xfrm>
            <a:off x="841853" y="5411132"/>
            <a:ext cx="788639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4400" b="0" kern="1200" spc="100" baseline="-25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o8.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F673EE5-354A-FD54-2A4E-F922E5E16253}"/>
              </a:ext>
            </a:extLst>
          </p:cNvPr>
          <p:cNvSpPr txBox="1">
            <a:spLocks/>
          </p:cNvSpPr>
          <p:nvPr/>
        </p:nvSpPr>
        <p:spPr>
          <a:xfrm>
            <a:off x="1630492" y="4227953"/>
            <a:ext cx="5885179" cy="533400"/>
          </a:xfrm>
          <a:prstGeom prst="rect">
            <a:avLst/>
          </a:prstGeom>
        </p:spPr>
        <p:txBody>
          <a:bodyPr vert="horz" lIns="0" tIns="4572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Non-Functional Requirements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F673EE5-354A-FD54-2A4E-F922E5E16253}"/>
              </a:ext>
            </a:extLst>
          </p:cNvPr>
          <p:cNvSpPr txBox="1">
            <a:spLocks/>
          </p:cNvSpPr>
          <p:nvPr/>
        </p:nvSpPr>
        <p:spPr>
          <a:xfrm>
            <a:off x="1630492" y="4780052"/>
            <a:ext cx="5885179" cy="533400"/>
          </a:xfrm>
          <a:prstGeom prst="rect">
            <a:avLst/>
          </a:prstGeom>
        </p:spPr>
        <p:txBody>
          <a:bodyPr vert="horz" lIns="0" tIns="4572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System Diagrams 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F673EE5-354A-FD54-2A4E-F922E5E16253}"/>
              </a:ext>
            </a:extLst>
          </p:cNvPr>
          <p:cNvSpPr txBox="1">
            <a:spLocks/>
          </p:cNvSpPr>
          <p:nvPr/>
        </p:nvSpPr>
        <p:spPr>
          <a:xfrm>
            <a:off x="1639525" y="5347894"/>
            <a:ext cx="5885179" cy="533400"/>
          </a:xfrm>
          <a:prstGeom prst="rect">
            <a:avLst/>
          </a:prstGeom>
        </p:spPr>
        <p:txBody>
          <a:bodyPr vert="horz" lIns="0" tIns="4572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Testing Overview &amp;  Future Work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0D1529B-404F-417F-15DD-536AE9893B6F}"/>
              </a:ext>
            </a:extLst>
          </p:cNvPr>
          <p:cNvSpPr txBox="1">
            <a:spLocks/>
          </p:cNvSpPr>
          <p:nvPr/>
        </p:nvSpPr>
        <p:spPr>
          <a:xfrm>
            <a:off x="854738" y="5952167"/>
            <a:ext cx="788639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4400" b="0" kern="1200" spc="100" baseline="-25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o9.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7E2656F-D2BF-939C-AF2A-2546A9D67DEF}"/>
              </a:ext>
            </a:extLst>
          </p:cNvPr>
          <p:cNvSpPr txBox="1">
            <a:spLocks/>
          </p:cNvSpPr>
          <p:nvPr/>
        </p:nvSpPr>
        <p:spPr>
          <a:xfrm>
            <a:off x="1651871" y="5965347"/>
            <a:ext cx="5885179" cy="533400"/>
          </a:xfrm>
          <a:prstGeom prst="rect">
            <a:avLst/>
          </a:prstGeom>
        </p:spPr>
        <p:txBody>
          <a:bodyPr vert="horz" lIns="0" tIns="4572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Conclusions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50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9837" y="167740"/>
            <a:ext cx="4437941" cy="750075"/>
          </a:xfrm>
        </p:spPr>
        <p:txBody>
          <a:bodyPr/>
          <a:lstStyle/>
          <a:p>
            <a:r>
              <a:rPr lang="en-US" b="1" u="sng" dirty="0"/>
              <a:t>INTRODUCTION: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A498B66-C42E-029B-6F9F-FF45F4C1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9837" y="1322325"/>
            <a:ext cx="4786877" cy="763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can we support infant's development?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B8BFA9-FBE9-EDA2-FBB1-C2B55CD7C8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9837" y="2971443"/>
            <a:ext cx="4550263" cy="1905357"/>
          </a:xfrm>
        </p:spPr>
        <p:txBody>
          <a:bodyPr>
            <a:normAutofit fontScale="47500" lnSpcReduction="20000"/>
          </a:bodyPr>
          <a:lstStyle/>
          <a:p>
            <a:r>
              <a:rPr lang="en-US" sz="5100" dirty="0"/>
              <a:t>BabyHelper AI is an innovative mobile application. It assist first-time parents in understanding and tracking their baby's needs and development. </a:t>
            </a:r>
          </a:p>
          <a:p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5" r="15"/>
          <a:stretch/>
        </p:blipFill>
        <p:spPr/>
      </p:pic>
    </p:spTree>
    <p:extLst>
      <p:ext uri="{BB962C8B-B14F-4D97-AF65-F5344CB8AC3E}">
        <p14:creationId xmlns:p14="http://schemas.microsoft.com/office/powerpoint/2010/main" val="241222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7B506F-982F-4C4F-B079-E4F81995C4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4121" y="810706"/>
            <a:ext cx="4290833" cy="5093570"/>
          </a:xfrm>
        </p:spPr>
        <p:txBody>
          <a:bodyPr>
            <a:normAutofit/>
          </a:bodyPr>
          <a:lstStyle/>
          <a:p>
            <a:r>
              <a:rPr lang="en-US" b="1" dirty="0"/>
              <a:t>Overall Strategy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1</a:t>
            </a:r>
            <a:r>
              <a:rPr lang="en-US" dirty="0"/>
              <a:t>. </a:t>
            </a:r>
            <a:r>
              <a:rPr lang="en-US" sz="2000" dirty="0"/>
              <a:t>Develop a unified 4-in-1 mobile health application</a:t>
            </a:r>
            <a:endParaRPr lang="en-US" sz="1800" dirty="0"/>
          </a:p>
          <a:p>
            <a:r>
              <a:rPr lang="en-US" sz="1800" dirty="0"/>
              <a:t>2. </a:t>
            </a:r>
            <a:r>
              <a:rPr lang="en-US" sz="2000" dirty="0"/>
              <a:t>Integrate ML models for infant cry classification</a:t>
            </a:r>
            <a:br>
              <a:rPr lang="en-US" sz="2000" dirty="0"/>
            </a:br>
            <a:br>
              <a:rPr lang="en-US" sz="1800" dirty="0"/>
            </a:br>
            <a:r>
              <a:rPr lang="en-US" sz="1800" dirty="0"/>
              <a:t>3. </a:t>
            </a:r>
            <a:r>
              <a:rPr lang="en-US" sz="2000" dirty="0"/>
              <a:t>Use WHO-standard analytics for growth  monitoring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4. </a:t>
            </a:r>
            <a:r>
              <a:rPr lang="en-US" sz="2000" dirty="0"/>
              <a:t>Design nutrition plans aligned with age appropriated foods</a:t>
            </a:r>
            <a:endParaRPr lang="en-US" sz="1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BAA2D3-8AD2-465B-92EC-35009354F3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08595" y="810706"/>
            <a:ext cx="4290833" cy="509357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Technical Approach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1. </a:t>
            </a:r>
            <a:r>
              <a:rPr lang="en-US" sz="2200" dirty="0"/>
              <a:t>Audio pre-processing → </a:t>
            </a:r>
            <a:r>
              <a:rPr lang="en-US" sz="2200" dirty="0" err="1"/>
              <a:t>YAMNet</a:t>
            </a:r>
            <a:r>
              <a:rPr lang="en-US" sz="2200" dirty="0"/>
              <a:t>/</a:t>
            </a:r>
            <a:r>
              <a:rPr lang="en-US" sz="2200" dirty="0" err="1"/>
              <a:t>TFLite</a:t>
            </a:r>
            <a:r>
              <a:rPr lang="en-US" sz="2200" dirty="0"/>
              <a:t> cry prediction </a:t>
            </a:r>
            <a:br>
              <a:rPr lang="en-US" sz="1900" dirty="0"/>
            </a:br>
            <a:br>
              <a:rPr lang="en-US" sz="1900" dirty="0"/>
            </a:br>
            <a:r>
              <a:rPr lang="en-US" sz="1700" dirty="0"/>
              <a:t>2. </a:t>
            </a:r>
            <a:r>
              <a:rPr lang="en-US" sz="2200" dirty="0"/>
              <a:t>Growth data entry → WHO z-score calculation → growth  assessment</a:t>
            </a:r>
            <a:br>
              <a:rPr lang="en-US" sz="2200" dirty="0"/>
            </a:br>
            <a:br>
              <a:rPr lang="en-US" sz="1700" dirty="0"/>
            </a:br>
            <a:r>
              <a:rPr lang="en-US" sz="1700" dirty="0"/>
              <a:t>3. </a:t>
            </a:r>
            <a:r>
              <a:rPr lang="en-US" sz="2200" dirty="0"/>
              <a:t>Sleep session logging → statistical analysis → visual sleep charts &amp; insights</a:t>
            </a: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4. </a:t>
            </a:r>
            <a:r>
              <a:rPr lang="en-US" sz="2200" dirty="0"/>
              <a:t>Age-based infant data → meal recommendations → nutrition guidance</a:t>
            </a: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BA7B34F0-908C-4DC5-E265-4AEC446A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9084" y="0"/>
            <a:ext cx="5779022" cy="750075"/>
          </a:xfrm>
        </p:spPr>
        <p:txBody>
          <a:bodyPr>
            <a:normAutofit/>
          </a:bodyPr>
          <a:lstStyle/>
          <a:p>
            <a:r>
              <a:rPr lang="en" sz="3200" b="1" u="sng" dirty="0">
                <a:solidFill>
                  <a:schemeClr val="tx2"/>
                </a:solidFill>
              </a:rPr>
              <a:t>PROPOSED APPROACH</a:t>
            </a:r>
            <a:endParaRPr lang="en-US" sz="3200" b="1" u="sng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00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568987"/>
            <a:ext cx="6732237" cy="76200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Existing Solutions</a:t>
            </a:r>
            <a:endParaRPr lang="en-US" sz="4000" b="1" u="sn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18562" y="1845847"/>
            <a:ext cx="5921978" cy="7308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</a:t>
            </a:r>
            <a:r>
              <a:rPr lang="en-US" sz="2000" dirty="0">
                <a:hlinkClick r:id="rId2"/>
              </a:rPr>
              <a:t>Cry Analyzer</a:t>
            </a:r>
            <a:r>
              <a:rPr lang="en-US" sz="2000" dirty="0"/>
              <a:t>: Many users report that the apps often provide incorrect or inconsistent analyses of baby cries.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 txBox="1">
            <a:spLocks/>
          </p:cNvSpPr>
          <p:nvPr/>
        </p:nvSpPr>
        <p:spPr>
          <a:xfrm>
            <a:off x="796322" y="2922929"/>
            <a:ext cx="5797550" cy="7691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hlinkClick r:id="rId5"/>
              </a:rPr>
              <a:t> Baby Tracker</a:t>
            </a:r>
            <a:r>
              <a:rPr lang="en-US" sz="2000" dirty="0"/>
              <a:t>: Only provides feeding, sleep, and diaper changes Information. 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 txBox="1">
            <a:spLocks/>
          </p:cNvSpPr>
          <p:nvPr/>
        </p:nvSpPr>
        <p:spPr>
          <a:xfrm>
            <a:off x="796322" y="3882474"/>
            <a:ext cx="5921978" cy="6460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u="sng" dirty="0"/>
              <a:t> </a:t>
            </a:r>
            <a:r>
              <a:rPr lang="en-US" sz="2000" dirty="0">
                <a:hlinkClick r:id="rId6"/>
              </a:rPr>
              <a:t>Baby Feed Timer: </a:t>
            </a:r>
            <a:r>
              <a:rPr lang="en-US" sz="2000" dirty="0"/>
              <a:t>Interface not user friendly, annoying adds. Report of bugs.  </a:t>
            </a:r>
            <a:endParaRPr lang="en-US" sz="2000" dirty="0">
              <a:hlinkClick r:id="rId6"/>
            </a:endParaRPr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 txBox="1">
            <a:spLocks/>
          </p:cNvSpPr>
          <p:nvPr/>
        </p:nvSpPr>
        <p:spPr>
          <a:xfrm>
            <a:off x="796322" y="4761553"/>
            <a:ext cx="5797550" cy="6460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u="sng" dirty="0">
                <a:hlinkClick r:id="rId7"/>
              </a:rPr>
              <a:t> </a:t>
            </a:r>
            <a:r>
              <a:rPr lang="en-US" sz="2000" u="sng" dirty="0" err="1">
                <a:hlinkClick r:id="rId7"/>
              </a:rPr>
              <a:t>SleepWellBaby</a:t>
            </a:r>
            <a:r>
              <a:rPr lang="en-US" sz="2000" u="sng" dirty="0">
                <a:hlinkClick r:id="rId7"/>
              </a:rPr>
              <a:t>: </a:t>
            </a:r>
            <a:r>
              <a:rPr lang="en-US" sz="2000" dirty="0"/>
              <a:t>Paid version available only. Limited to only Sleep. </a:t>
            </a:r>
            <a:r>
              <a:rPr lang="en-US" sz="2000" u="sng" dirty="0">
                <a:hlinkClick r:id="rId7"/>
              </a:rPr>
              <a:t> 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C6A1322-85DD-33DF-CA56-1304D101B27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8"/>
          <a:srcRect t="19434" b="19434"/>
          <a:stretch/>
        </p:blipFill>
        <p:spPr>
          <a:xfrm flipH="1">
            <a:off x="7528558" y="0"/>
            <a:ext cx="4659957" cy="6858000"/>
          </a:xfrm>
        </p:spPr>
      </p:pic>
    </p:spTree>
    <p:extLst>
      <p:ext uri="{BB962C8B-B14F-4D97-AF65-F5344CB8AC3E}">
        <p14:creationId xmlns:p14="http://schemas.microsoft.com/office/powerpoint/2010/main" val="5333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0"/>
            <a:ext cx="10939090" cy="1418897"/>
          </a:xfrm>
        </p:spPr>
        <p:txBody>
          <a:bodyPr/>
          <a:lstStyle/>
          <a:p>
            <a:r>
              <a:rPr lang="en-US" b="1" u="sng" dirty="0" err="1">
                <a:solidFill>
                  <a:schemeClr val="accent1"/>
                </a:solidFill>
              </a:rPr>
              <a:t>BabyHelper_AI</a:t>
            </a:r>
            <a:endParaRPr lang="en-US" b="1" u="sn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3879" y="2207235"/>
            <a:ext cx="2043556" cy="2270172"/>
          </a:xfrm>
        </p:spPr>
        <p:txBody>
          <a:bodyPr/>
          <a:lstStyle/>
          <a:p>
            <a:r>
              <a:rPr lang="en-US" dirty="0"/>
              <a:t>Growth Analysis</a:t>
            </a:r>
          </a:p>
        </p:txBody>
      </p:sp>
      <p:pic>
        <p:nvPicPr>
          <p:cNvPr id="51" name="Picture Placeholder 50">
            <a:extLst>
              <a:ext uri="{FF2B5EF4-FFF2-40B4-BE49-F238E27FC236}">
                <a16:creationId xmlns:a16="http://schemas.microsoft.com/office/drawing/2014/main" id="{F1A5F630-1971-68D5-BEDA-6FC11471C8E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32" y="3373858"/>
            <a:ext cx="1497650" cy="99843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38917" y="2207236"/>
            <a:ext cx="2134627" cy="2270172"/>
          </a:xfrm>
        </p:spPr>
        <p:txBody>
          <a:bodyPr/>
          <a:lstStyle/>
          <a:p>
            <a:r>
              <a:rPr lang="en-US" dirty="0"/>
              <a:t>AI-Driven Cry Analysis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5026" y="2191532"/>
            <a:ext cx="2226876" cy="2285875"/>
          </a:xfrm>
        </p:spPr>
        <p:txBody>
          <a:bodyPr/>
          <a:lstStyle/>
          <a:p>
            <a:r>
              <a:rPr lang="en-US" dirty="0"/>
              <a:t>Nutrition Tracking</a:t>
            </a:r>
          </a:p>
        </p:txBody>
      </p:sp>
      <p:pic>
        <p:nvPicPr>
          <p:cNvPr id="55" name="Picture Placeholder 54">
            <a:extLst>
              <a:ext uri="{FF2B5EF4-FFF2-40B4-BE49-F238E27FC236}">
                <a16:creationId xmlns:a16="http://schemas.microsoft.com/office/drawing/2014/main" id="{415585AE-96E0-81D6-0A31-2A13ECB7680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528" y="3419474"/>
            <a:ext cx="1340069" cy="914543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 txBox="1">
            <a:spLocks/>
          </p:cNvSpPr>
          <p:nvPr/>
        </p:nvSpPr>
        <p:spPr>
          <a:xfrm>
            <a:off x="9159582" y="2191532"/>
            <a:ext cx="2226876" cy="2278024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vert="horz" lIns="0" tIns="27432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Sleep Pattern Monitoring</a:t>
            </a:r>
          </a:p>
        </p:txBody>
      </p:sp>
      <p:pic>
        <p:nvPicPr>
          <p:cNvPr id="15" name="Picture Placeholder 54">
            <a:extLst>
              <a:ext uri="{FF2B5EF4-FFF2-40B4-BE49-F238E27FC236}">
                <a16:creationId xmlns:a16="http://schemas.microsoft.com/office/drawing/2014/main" id="{415585AE-96E0-81D6-0A31-2A13ECB76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967" y="3373858"/>
            <a:ext cx="1260948" cy="964096"/>
          </a:xfrm>
          <a:prstGeom prst="rect">
            <a:avLst/>
          </a:prstGeom>
        </p:spPr>
      </p:pic>
      <p:pic>
        <p:nvPicPr>
          <p:cNvPr id="18" name="Picture Placeholder 17"/>
          <p:cNvPicPr>
            <a:picLocks noGrp="1" noChangeAspect="1"/>
          </p:cNvPicPr>
          <p:nvPr>
            <p:ph type="pic" sz="quarter" idx="2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787" y="3419474"/>
            <a:ext cx="1371600" cy="914543"/>
          </a:xfrm>
        </p:spPr>
      </p:pic>
    </p:spTree>
    <p:extLst>
      <p:ext uri="{BB962C8B-B14F-4D97-AF65-F5344CB8AC3E}">
        <p14:creationId xmlns:p14="http://schemas.microsoft.com/office/powerpoint/2010/main" val="43842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568987"/>
            <a:ext cx="6732237" cy="76200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Functional Requirements </a:t>
            </a:r>
            <a:endParaRPr lang="en-US" sz="4000" b="1" u="sn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680765"/>
            <a:ext cx="5921978" cy="7308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User Authentication: </a:t>
            </a:r>
            <a:r>
              <a:rPr lang="en-US" sz="1800" dirty="0"/>
              <a:t>Secure login &amp; registration using Firebase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 flipH="1">
            <a:off x="7167171" y="0"/>
            <a:ext cx="5024827" cy="685800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8171671A-AADB-DCBA-479B-88EDF325E1FA}"/>
              </a:ext>
            </a:extLst>
          </p:cNvPr>
          <p:cNvSpPr txBox="1">
            <a:spLocks/>
          </p:cNvSpPr>
          <p:nvPr/>
        </p:nvSpPr>
        <p:spPr>
          <a:xfrm>
            <a:off x="796322" y="2411662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Cry Analysis: </a:t>
            </a:r>
            <a:r>
              <a:rPr lang="en-US" sz="1800" dirty="0"/>
              <a:t>Record infant cry &amp; predicts cry category </a:t>
            </a:r>
            <a:r>
              <a:rPr lang="en-US" sz="1800" dirty="0" err="1"/>
              <a:t>i.e</a:t>
            </a:r>
            <a:r>
              <a:rPr lang="en-US" sz="1800" dirty="0"/>
              <a:t> Hunger, Discomfort, Tired </a:t>
            </a:r>
            <a:r>
              <a:rPr lang="en-US" sz="1800" dirty="0" err="1"/>
              <a:t>etc</a:t>
            </a:r>
            <a:endParaRPr lang="en-US" sz="1800" dirty="0"/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AD1600EF-8A7A-AE9D-9CA7-3CB6E1E135B2}"/>
              </a:ext>
            </a:extLst>
          </p:cNvPr>
          <p:cNvSpPr txBox="1">
            <a:spLocks/>
          </p:cNvSpPr>
          <p:nvPr/>
        </p:nvSpPr>
        <p:spPr>
          <a:xfrm>
            <a:off x="796322" y="3214010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Growth Tracking: </a:t>
            </a:r>
            <a:r>
              <a:rPr lang="en-US" sz="1800" dirty="0"/>
              <a:t>Input: weight, height, head circumference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B4553F7A-1D98-3E9B-6EA3-48D152BFB1D1}"/>
              </a:ext>
            </a:extLst>
          </p:cNvPr>
          <p:cNvSpPr txBox="1">
            <a:spLocks/>
          </p:cNvSpPr>
          <p:nvPr/>
        </p:nvSpPr>
        <p:spPr>
          <a:xfrm>
            <a:off x="796322" y="4016358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Nutrition Guidance: </a:t>
            </a:r>
            <a:r>
              <a:rPr lang="en-US" sz="1800" dirty="0"/>
              <a:t>Provide age-based meal        plans.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8BA90D55-54B6-F258-997E-7F4A261D8386}"/>
              </a:ext>
            </a:extLst>
          </p:cNvPr>
          <p:cNvSpPr txBox="1">
            <a:spLocks/>
          </p:cNvSpPr>
          <p:nvPr/>
        </p:nvSpPr>
        <p:spPr>
          <a:xfrm>
            <a:off x="796322" y="4747255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 Sleep Monitoring: </a:t>
            </a:r>
            <a:r>
              <a:rPr lang="en-US" sz="1800" dirty="0"/>
              <a:t>Log sleep/wake time. Calculate daily sleep duration &amp; Visualize patterns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4B8361B-BCA9-12BD-B88E-E8276852ECF6}"/>
              </a:ext>
            </a:extLst>
          </p:cNvPr>
          <p:cNvSpPr txBox="1">
            <a:spLocks/>
          </p:cNvSpPr>
          <p:nvPr/>
        </p:nvSpPr>
        <p:spPr>
          <a:xfrm>
            <a:off x="796322" y="5478152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 View charts and reports: </a:t>
            </a:r>
            <a:r>
              <a:rPr lang="en" sz="1800" dirty="0"/>
              <a:t>View weekly/monthly reports, </a:t>
            </a:r>
            <a:r>
              <a:rPr lang="en-US" sz="1800" dirty="0"/>
              <a:t>Visualize patterns. Track progress of infant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132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2EC5-CA60-D187-ACE8-05BFD071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593D3A5-D23A-5712-E082-A9C7A9F7E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568987"/>
            <a:ext cx="6936321" cy="762000"/>
          </a:xfrm>
        </p:spPr>
        <p:txBody>
          <a:bodyPr>
            <a:normAutofit fontScale="90000"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Non-Functional Requirements </a:t>
            </a:r>
            <a:endParaRPr lang="en-US" sz="4000" b="1" u="sn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15C0E26-815B-088B-489C-3CC459EE03E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769485"/>
            <a:ext cx="5921978" cy="7308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Performance: </a:t>
            </a:r>
            <a:r>
              <a:rPr lang="en-US" sz="1800" dirty="0"/>
              <a:t>Cry prediction in real-time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C52B830B-4020-1625-5C9C-0B4829E0C1D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 flipH="1">
            <a:off x="7528559" y="-26359"/>
            <a:ext cx="4663440" cy="6884359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B237883-EE58-00C0-B80D-BB94472E7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C6967F-C77A-87D3-F689-232A2C79B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6153F-EAF0-E4AA-ACE1-F5A016FF3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65F6B20-9FBE-89D4-410C-04768E9A4C61}"/>
              </a:ext>
            </a:extLst>
          </p:cNvPr>
          <p:cNvSpPr txBox="1">
            <a:spLocks/>
          </p:cNvSpPr>
          <p:nvPr/>
        </p:nvSpPr>
        <p:spPr>
          <a:xfrm>
            <a:off x="796322" y="2411662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Security: </a:t>
            </a:r>
            <a:r>
              <a:rPr lang="en-US" sz="1800" dirty="0"/>
              <a:t>Encrypted communication (HTTPS/SSL). Password hashing with Encrypt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F64A01A7-B56D-A937-C413-70F4B730C879}"/>
              </a:ext>
            </a:extLst>
          </p:cNvPr>
          <p:cNvSpPr txBox="1">
            <a:spLocks/>
          </p:cNvSpPr>
          <p:nvPr/>
        </p:nvSpPr>
        <p:spPr>
          <a:xfrm>
            <a:off x="796322" y="3214010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Reliability: </a:t>
            </a:r>
            <a:r>
              <a:rPr lang="en-US" sz="1800" dirty="0"/>
              <a:t>Offline mode for major features, Local SQLite storage support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431040FF-67C8-5498-DAEC-AA589A220701}"/>
              </a:ext>
            </a:extLst>
          </p:cNvPr>
          <p:cNvSpPr txBox="1">
            <a:spLocks/>
          </p:cNvSpPr>
          <p:nvPr/>
        </p:nvSpPr>
        <p:spPr>
          <a:xfrm>
            <a:off x="796322" y="4016358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Usability: </a:t>
            </a:r>
            <a:r>
              <a:rPr lang="en-US" sz="1800" dirty="0"/>
              <a:t>Simple UI for parents. Material Design-based consistency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9EE704F2-47AC-4178-BB43-EAB8384848BE}"/>
              </a:ext>
            </a:extLst>
          </p:cNvPr>
          <p:cNvSpPr txBox="1">
            <a:spLocks/>
          </p:cNvSpPr>
          <p:nvPr/>
        </p:nvSpPr>
        <p:spPr>
          <a:xfrm>
            <a:off x="796322" y="5375968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 Maintainability: </a:t>
            </a:r>
            <a:r>
              <a:rPr lang="en-GB" sz="1800" dirty="0"/>
              <a:t>Easy to update and extend. </a:t>
            </a:r>
            <a:r>
              <a:rPr lang="en-US" sz="1800" dirty="0"/>
              <a:t>Modular system structure.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C35C4C1E-DD4D-E006-4558-32691B0FCE2B}"/>
              </a:ext>
            </a:extLst>
          </p:cNvPr>
          <p:cNvSpPr txBox="1">
            <a:spLocks/>
          </p:cNvSpPr>
          <p:nvPr/>
        </p:nvSpPr>
        <p:spPr>
          <a:xfrm>
            <a:off x="796322" y="4822511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 Feasibility: </a:t>
            </a:r>
            <a:r>
              <a:rPr lang="en-US" sz="1800" dirty="0"/>
              <a:t>Works on devices with ≥ 4 GB RAM. 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2E7301B-27ED-D141-8FB1-73754CFF5EE5}"/>
              </a:ext>
            </a:extLst>
          </p:cNvPr>
          <p:cNvSpPr txBox="1">
            <a:spLocks/>
          </p:cNvSpPr>
          <p:nvPr/>
        </p:nvSpPr>
        <p:spPr>
          <a:xfrm>
            <a:off x="796322" y="4747255"/>
            <a:ext cx="5921978" cy="7308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8541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67B56-BDA2-53F3-E4C9-56E02F22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EC98-8611-6804-2EA0-0D31FB704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7" y="456255"/>
            <a:ext cx="5201686" cy="763900"/>
          </a:xfrm>
        </p:spPr>
        <p:txBody>
          <a:bodyPr>
            <a:normAutofit/>
          </a:bodyPr>
          <a:lstStyle/>
          <a:p>
            <a:r>
              <a:rPr lang="en-US" b="1" u="sng" dirty="0"/>
              <a:t>Modules of the project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E31C767-156A-7F24-9CF3-D6A8CE142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9788" y="1517074"/>
            <a:ext cx="4786877" cy="763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Following are the modules used in our App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057F463-BBC7-3C24-0108-348D57C24C4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-53665" y="4585"/>
            <a:ext cx="3723140" cy="6862275"/>
          </a:xfr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F64CC7E-D5EE-7576-4624-CEB604CF9D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788" y="2753248"/>
            <a:ext cx="4525411" cy="7659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" sz="2000" u="sng" dirty="0">
                <a:latin typeface="Raleway ExtraBold"/>
                <a:ea typeface="Raleway ExtraBold"/>
                <a:cs typeface="Raleway ExtraBold"/>
                <a:sym typeface="Raleway ExtraBold"/>
              </a:rPr>
              <a:t>Audio Processing &amp; prediction </a:t>
            </a:r>
            <a:r>
              <a:rPr lang="en-US" sz="2000" u="sng" dirty="0">
                <a:latin typeface="Raleway ExtraBold"/>
                <a:ea typeface="Raleway ExtraBold"/>
                <a:cs typeface="Raleway ExtraBold"/>
                <a:sym typeface="Raleway ExtraBold"/>
              </a:rPr>
              <a:t>Module</a:t>
            </a:r>
            <a:endParaRPr lang="en-US" sz="20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130F56-05D4-5F75-89BE-0DCB65618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09DE6E4-FD00-9F92-55D3-D66FBF8D644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A1050E1-2966-2E6F-1EEC-9FDB63B195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46F9814D-B7C8-CD0D-C405-AC155B41421D}"/>
              </a:ext>
            </a:extLst>
          </p:cNvPr>
          <p:cNvSpPr txBox="1">
            <a:spLocks/>
          </p:cNvSpPr>
          <p:nvPr/>
        </p:nvSpPr>
        <p:spPr>
          <a:xfrm>
            <a:off x="6588097" y="3608475"/>
            <a:ext cx="4525411" cy="765904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" sz="2000" u="sng" dirty="0">
                <a:latin typeface="Raleway ExtraBold"/>
                <a:ea typeface="Raleway ExtraBold"/>
                <a:cs typeface="Raleway ExtraBold"/>
                <a:sym typeface="Raleway ExtraBold"/>
              </a:rPr>
              <a:t>Nutrition Guide </a:t>
            </a:r>
            <a:r>
              <a:rPr lang="en-US" sz="2000" u="sng" dirty="0">
                <a:latin typeface="Raleway ExtraBold"/>
                <a:ea typeface="Raleway ExtraBold"/>
                <a:cs typeface="Raleway ExtraBold"/>
                <a:sym typeface="Raleway ExtraBold"/>
              </a:rPr>
              <a:t>Module</a:t>
            </a:r>
            <a:endParaRPr lang="en-US" sz="2000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1731CF8A-0204-E543-D7F5-50F6FEABD554}"/>
              </a:ext>
            </a:extLst>
          </p:cNvPr>
          <p:cNvSpPr txBox="1">
            <a:spLocks/>
          </p:cNvSpPr>
          <p:nvPr/>
        </p:nvSpPr>
        <p:spPr>
          <a:xfrm>
            <a:off x="6599788" y="4287628"/>
            <a:ext cx="4525411" cy="765904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" sz="2000" u="sng" dirty="0">
                <a:latin typeface="Raleway ExtraBold"/>
                <a:ea typeface="Raleway ExtraBold"/>
                <a:cs typeface="Raleway ExtraBold"/>
                <a:sym typeface="Raleway ExtraBold"/>
              </a:rPr>
              <a:t>Growth Tracking </a:t>
            </a:r>
            <a:r>
              <a:rPr lang="en-US" sz="2000" u="sng" dirty="0">
                <a:latin typeface="Raleway ExtraBold"/>
                <a:ea typeface="Raleway ExtraBold"/>
                <a:cs typeface="Raleway ExtraBold"/>
                <a:sym typeface="Raleway ExtraBold"/>
              </a:rPr>
              <a:t>Module</a:t>
            </a:r>
            <a:endParaRPr lang="en-US" sz="2000" dirty="0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C409EE44-3CD8-C95B-BE2D-35D30F9FE696}"/>
              </a:ext>
            </a:extLst>
          </p:cNvPr>
          <p:cNvSpPr txBox="1">
            <a:spLocks/>
          </p:cNvSpPr>
          <p:nvPr/>
        </p:nvSpPr>
        <p:spPr>
          <a:xfrm>
            <a:off x="6599788" y="5076864"/>
            <a:ext cx="4525411" cy="765904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u="sng" dirty="0">
                <a:latin typeface="Raleway ExtraBold"/>
                <a:ea typeface="Raleway ExtraBold"/>
                <a:cs typeface="Raleway ExtraBold"/>
                <a:sym typeface="Raleway ExtraBold"/>
              </a:rPr>
              <a:t>Sleep Monitoring Module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8883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579C-453B-72A0-DBF2-2C2C9574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B7CABA-FF0E-FC43-8E09-CCDE2CD35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4713402" cy="1338606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1"/>
                </a:solidFill>
              </a:rPr>
              <a:t>Use-Case Diagram</a:t>
            </a:r>
            <a:endParaRPr lang="en-US" b="1" u="s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15E61-0D58-8B2D-6D87-DD58DD0D5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2" name="Graphic 30">
            <a:extLst>
              <a:ext uri="{FF2B5EF4-FFF2-40B4-BE49-F238E27FC236}">
                <a16:creationId xmlns:a16="http://schemas.microsoft.com/office/drawing/2014/main" id="{44558049-98A1-2726-F543-099DDCE63C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790"/>
          <a:stretch/>
        </p:blipFill>
        <p:spPr bwMode="auto">
          <a:xfrm>
            <a:off x="2941164" y="1155071"/>
            <a:ext cx="7494308" cy="49817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34618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963E-99E7-6B7E-DE0A-C979CEA8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C4F342-EF23-B831-D73A-7E119E709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4713402" cy="1338606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1"/>
                </a:solidFill>
              </a:rPr>
              <a:t>Activity Diagram</a:t>
            </a:r>
            <a:endParaRPr lang="en-US" b="1" u="s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6E1C7-1B17-A66E-2222-AA3D1CF1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" name="Graphic 4">
            <a:extLst>
              <a:ext uri="{FF2B5EF4-FFF2-40B4-BE49-F238E27FC236}">
                <a16:creationId xmlns:a16="http://schemas.microsoft.com/office/drawing/2014/main" id="{BFF5D566-970B-4378-3FE2-B5AC08047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2308" y="0"/>
            <a:ext cx="735290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62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81958"/>
            <a:ext cx="6732237" cy="814382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Real Time Testing</a:t>
            </a:r>
            <a:endParaRPr lang="en-US" sz="4000" b="1" u="sng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C90DB2-EA97-4E26-ADE5-9ED9C471D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70" y="1432874"/>
            <a:ext cx="2556613" cy="5257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A3B82C-BA4D-4918-9202-998D05B4C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37" y="1432874"/>
            <a:ext cx="2556612" cy="5257814"/>
          </a:xfrm>
          <a:prstGeom prst="rect">
            <a:avLst/>
          </a:prstGeo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4E554D3D-2B23-4C6C-A130-446FD71B5C4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/>
          <a:srcRect l="25579" r="25579"/>
          <a:stretch>
            <a:fillRect/>
          </a:stretch>
        </p:blipFill>
        <p:spPr>
          <a:xfrm flipH="1">
            <a:off x="7244152" y="98981"/>
            <a:ext cx="4952302" cy="6759019"/>
          </a:xfrm>
        </p:spPr>
      </p:pic>
    </p:spTree>
    <p:extLst>
      <p:ext uri="{BB962C8B-B14F-4D97-AF65-F5344CB8AC3E}">
        <p14:creationId xmlns:p14="http://schemas.microsoft.com/office/powerpoint/2010/main" val="4236129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81958"/>
            <a:ext cx="6732237" cy="814382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Testing Overview </a:t>
            </a:r>
            <a:endParaRPr lang="en-US" sz="4000" b="1" u="sn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794015"/>
            <a:ext cx="5797550" cy="73089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Unit Testing:</a:t>
            </a:r>
            <a:r>
              <a:rPr lang="en-US" sz="2000" dirty="0"/>
              <a:t> Tested each module like cry analysis and growth tracking separately.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63689" y="1"/>
            <a:ext cx="5024825" cy="685800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 txBox="1">
            <a:spLocks/>
          </p:cNvSpPr>
          <p:nvPr/>
        </p:nvSpPr>
        <p:spPr>
          <a:xfrm>
            <a:off x="796322" y="2600326"/>
            <a:ext cx="5797550" cy="73089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Integration Testing :</a:t>
            </a:r>
            <a:r>
              <a:rPr lang="en-US" sz="2000" dirty="0"/>
              <a:t> Verified communication between app, AI model, and database.</a:t>
            </a:r>
          </a:p>
          <a:p>
            <a:endParaRPr lang="en-US" sz="2000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 txBox="1">
            <a:spLocks/>
          </p:cNvSpPr>
          <p:nvPr/>
        </p:nvSpPr>
        <p:spPr>
          <a:xfrm>
            <a:off x="796322" y="3275814"/>
            <a:ext cx="5797550" cy="6460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Manual Testing:</a:t>
            </a:r>
            <a:r>
              <a:rPr lang="en-US" sz="2000" dirty="0"/>
              <a:t> Checked app functionality and usability on Android devices.</a:t>
            </a:r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A94522C4-CA48-AAC1-31A4-E23ECC28C1EA}"/>
              </a:ext>
            </a:extLst>
          </p:cNvPr>
          <p:cNvSpPr txBox="1">
            <a:spLocks/>
          </p:cNvSpPr>
          <p:nvPr/>
        </p:nvSpPr>
        <p:spPr>
          <a:xfrm>
            <a:off x="796322" y="3997237"/>
            <a:ext cx="5797550" cy="6460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Data Validation:</a:t>
            </a:r>
            <a:r>
              <a:rPr lang="en-US" sz="2000" dirty="0"/>
              <a:t> Ensured correct and accurate user input processing.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C5B69809-3F5F-4DC7-A0DC-C282084870C2}"/>
              </a:ext>
            </a:extLst>
          </p:cNvPr>
          <p:cNvSpPr txBox="1">
            <a:spLocks/>
          </p:cNvSpPr>
          <p:nvPr/>
        </p:nvSpPr>
        <p:spPr>
          <a:xfrm>
            <a:off x="796322" y="4794074"/>
            <a:ext cx="5797550" cy="64600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Edge Case Testing:</a:t>
            </a:r>
            <a:r>
              <a:rPr lang="en-US" sz="2000" dirty="0"/>
              <a:t> Tested system behavior under unusual or invalid conditions.</a:t>
            </a:r>
          </a:p>
        </p:txBody>
      </p:sp>
    </p:spTree>
    <p:extLst>
      <p:ext uri="{BB962C8B-B14F-4D97-AF65-F5344CB8AC3E}">
        <p14:creationId xmlns:p14="http://schemas.microsoft.com/office/powerpoint/2010/main" val="962497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E0F2054-FE7E-B49A-E17F-5DE1864D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069" y="545354"/>
            <a:ext cx="6732237" cy="65786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accent1"/>
                </a:solidFill>
              </a:rPr>
              <a:t>Future Enhancements  </a:t>
            </a:r>
            <a:endParaRPr lang="en-US" sz="4000" b="1" u="sng" dirty="0"/>
          </a:p>
        </p:txBody>
      </p:sp>
      <p:pic>
        <p:nvPicPr>
          <p:cNvPr id="7" name="Picture Placeholder 18">
            <a:extLst>
              <a:ext uri="{FF2B5EF4-FFF2-40B4-BE49-F238E27FC236}">
                <a16:creationId xmlns:a16="http://schemas.microsoft.com/office/drawing/2014/main" id="{137F878B-E773-04A9-23BB-A6DF6A69B98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 flipH="1">
            <a:off x="7167173" y="0"/>
            <a:ext cx="5024825" cy="6857999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8C54-1820-3B00-1C96-88D7349F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1EF105-497F-4EFD-8E5D-D4573ED81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F08D551-B30D-FCB1-C8B2-0160EC530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5AA2D64-53A7-BC77-FBA2-EC723D31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 txBox="1">
            <a:spLocks/>
          </p:cNvSpPr>
          <p:nvPr/>
        </p:nvSpPr>
        <p:spPr>
          <a:xfrm>
            <a:off x="1050322" y="1369483"/>
            <a:ext cx="5045678" cy="722603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Future advancements for BabyHelper AI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CBC01B8-FB52-27EE-1CD6-0180333CE55A}"/>
              </a:ext>
            </a:extLst>
          </p:cNvPr>
          <p:cNvSpPr txBox="1">
            <a:spLocks/>
          </p:cNvSpPr>
          <p:nvPr/>
        </p:nvSpPr>
        <p:spPr>
          <a:xfrm>
            <a:off x="948719" y="2076708"/>
            <a:ext cx="5738425" cy="507397"/>
          </a:xfrm>
          <a:prstGeom prst="rect">
            <a:avLst/>
          </a:prstGeom>
        </p:spPr>
        <p:txBody>
          <a:bodyPr vert="horz" lIns="91440" tIns="4572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Larger cry datasets.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71F5F00-BFC1-A73D-C66B-B15F5B6318CB}"/>
              </a:ext>
            </a:extLst>
          </p:cNvPr>
          <p:cNvSpPr txBox="1">
            <a:spLocks/>
          </p:cNvSpPr>
          <p:nvPr/>
        </p:nvSpPr>
        <p:spPr>
          <a:xfrm>
            <a:off x="948719" y="2568727"/>
            <a:ext cx="5738425" cy="507397"/>
          </a:xfrm>
          <a:prstGeom prst="rect">
            <a:avLst/>
          </a:prstGeom>
        </p:spPr>
        <p:txBody>
          <a:bodyPr vert="horz" lIns="91440" tIns="4572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iOS deployment.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E549B07-375C-426A-C876-B0ADB70A2A52}"/>
              </a:ext>
            </a:extLst>
          </p:cNvPr>
          <p:cNvSpPr txBox="1">
            <a:spLocks/>
          </p:cNvSpPr>
          <p:nvPr/>
        </p:nvSpPr>
        <p:spPr>
          <a:xfrm>
            <a:off x="948719" y="3060746"/>
            <a:ext cx="5738425" cy="507397"/>
          </a:xfrm>
          <a:prstGeom prst="rect">
            <a:avLst/>
          </a:prstGeom>
        </p:spPr>
        <p:txBody>
          <a:bodyPr vert="horz" lIns="91440" tIns="4572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Multi-language support.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8F830FA-9C6B-D8BE-1F3D-76B6FA5601D8}"/>
              </a:ext>
            </a:extLst>
          </p:cNvPr>
          <p:cNvSpPr txBox="1">
            <a:spLocks/>
          </p:cNvSpPr>
          <p:nvPr/>
        </p:nvSpPr>
        <p:spPr>
          <a:xfrm>
            <a:off x="948719" y="3552765"/>
            <a:ext cx="5738425" cy="507397"/>
          </a:xfrm>
          <a:prstGeom prst="rect">
            <a:avLst/>
          </a:prstGeom>
        </p:spPr>
        <p:txBody>
          <a:bodyPr vert="horz" lIns="91440" tIns="4572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Improved AI accuracy.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24E620-BDA7-77C7-7390-2941A263F0FA}"/>
              </a:ext>
            </a:extLst>
          </p:cNvPr>
          <p:cNvSpPr txBox="1">
            <a:spLocks/>
          </p:cNvSpPr>
          <p:nvPr/>
        </p:nvSpPr>
        <p:spPr>
          <a:xfrm>
            <a:off x="948719" y="4060162"/>
            <a:ext cx="5738425" cy="507397"/>
          </a:xfrm>
          <a:prstGeom prst="rect">
            <a:avLst/>
          </a:prstGeom>
        </p:spPr>
        <p:txBody>
          <a:bodyPr vert="horz" lIns="91440" tIns="4572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Advanced analytics dashboard.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D13BDFF2-CEF4-E130-281D-51DCE6D7BE35}"/>
              </a:ext>
            </a:extLst>
          </p:cNvPr>
          <p:cNvSpPr txBox="1">
            <a:spLocks/>
          </p:cNvSpPr>
          <p:nvPr/>
        </p:nvSpPr>
        <p:spPr>
          <a:xfrm>
            <a:off x="948719" y="4536803"/>
            <a:ext cx="5738425" cy="507397"/>
          </a:xfrm>
          <a:prstGeom prst="rect">
            <a:avLst/>
          </a:prstGeom>
        </p:spPr>
        <p:txBody>
          <a:bodyPr vert="horz" lIns="91440" tIns="4572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Smart notifications &amp; reminders.</a:t>
            </a:r>
          </a:p>
        </p:txBody>
      </p:sp>
    </p:spTree>
    <p:extLst>
      <p:ext uri="{BB962C8B-B14F-4D97-AF65-F5344CB8AC3E}">
        <p14:creationId xmlns:p14="http://schemas.microsoft.com/office/powerpoint/2010/main" val="2581217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7" y="456255"/>
            <a:ext cx="5201686" cy="763900"/>
          </a:xfrm>
        </p:spPr>
        <p:txBody>
          <a:bodyPr>
            <a:normAutofit/>
          </a:bodyPr>
          <a:lstStyle/>
          <a:p>
            <a:r>
              <a:rPr lang="en-US" sz="4000" u="sng" dirty="0"/>
              <a:t>Limitations: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9788" y="1517074"/>
            <a:ext cx="4786877" cy="763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Following are the limits in our App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8C45233-1B15-3596-75CE-DED7D720CA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1" y="-7380"/>
            <a:ext cx="5505253" cy="6862275"/>
          </a:xfr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8F44E43-BD27-EF72-1581-53AA4AF310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788" y="2753248"/>
            <a:ext cx="4525411" cy="7659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Limited cry dataset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70F98BB4-EF7F-A75B-F58A-69E622AC10B7}"/>
              </a:ext>
            </a:extLst>
          </p:cNvPr>
          <p:cNvSpPr txBox="1">
            <a:spLocks/>
          </p:cNvSpPr>
          <p:nvPr/>
        </p:nvSpPr>
        <p:spPr>
          <a:xfrm>
            <a:off x="6588097" y="3423757"/>
            <a:ext cx="4525411" cy="765904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AI confidence accuracy can be improved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179430AE-8E30-92ED-00CC-3FCD76844264}"/>
              </a:ext>
            </a:extLst>
          </p:cNvPr>
          <p:cNvSpPr txBox="1">
            <a:spLocks/>
          </p:cNvSpPr>
          <p:nvPr/>
        </p:nvSpPr>
        <p:spPr>
          <a:xfrm>
            <a:off x="6599788" y="4371430"/>
            <a:ext cx="4525411" cy="592456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Multi–platform focused deployment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409AF55C-0DE0-C192-E590-9CEEF91D7FA1}"/>
              </a:ext>
            </a:extLst>
          </p:cNvPr>
          <p:cNvSpPr txBox="1">
            <a:spLocks/>
          </p:cNvSpPr>
          <p:nvPr/>
        </p:nvSpPr>
        <p:spPr>
          <a:xfrm>
            <a:off x="6599788" y="5247530"/>
            <a:ext cx="4525411" cy="765904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Internet required for cloud sync</a:t>
            </a:r>
          </a:p>
        </p:txBody>
      </p:sp>
    </p:spTree>
    <p:extLst>
      <p:ext uri="{BB962C8B-B14F-4D97-AF65-F5344CB8AC3E}">
        <p14:creationId xmlns:p14="http://schemas.microsoft.com/office/powerpoint/2010/main" val="1913668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574" y="163957"/>
            <a:ext cx="4786877" cy="983225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Conclusions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3214" y="1510598"/>
            <a:ext cx="4786877" cy="763899"/>
          </a:xfrm>
        </p:spPr>
        <p:txBody>
          <a:bodyPr/>
          <a:lstStyle/>
          <a:p>
            <a:r>
              <a:rPr lang="en-US" dirty="0"/>
              <a:t>What we’ve discussed so far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8C45233-1B15-3596-75CE-DED7D720CA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2474" b="2474"/>
          <a:stretch/>
        </p:blipFill>
        <p:spPr>
          <a:xfrm>
            <a:off x="0" y="-2235"/>
            <a:ext cx="5307291" cy="6862275"/>
          </a:xfr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8F44E43-BD27-EF72-1581-53AA4AF310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4856" y="2447908"/>
            <a:ext cx="5703595" cy="363567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 err="1"/>
              <a:t>BabyHelper</a:t>
            </a:r>
            <a:r>
              <a:rPr lang="en-US" sz="2400" dirty="0"/>
              <a:t> AI provides an intelligent, integrated, and user-friendly infant-care solution for Pakistani parents. The system combines AI-powered cry analysis, growth monitoring, nutrition guidance, and sleep tracking into one platform to reduce parental stress and support informed caregiving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6">
            <a:extLst>
              <a:ext uri="{FF2B5EF4-FFF2-40B4-BE49-F238E27FC236}">
                <a16:creationId xmlns:a16="http://schemas.microsoft.com/office/drawing/2014/main" id="{E03BC577-8E17-B69D-45B2-395E2E82414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23652" y="-10360"/>
            <a:ext cx="4568348" cy="686836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/>
              <a:t>References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B3C1A-3346-F617-2EC7-C16586CF19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6320" y="2493697"/>
            <a:ext cx="5885179" cy="5334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https://www.who.int/health-topics/nutrition#tab=tab_1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E5E134-360B-2943-34EC-C57477A8C8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6319" y="3179873"/>
            <a:ext cx="5811869" cy="89906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https://www.who.int/tools/your-life-your-health/life-phase/newborns-and-children-under-5-years/caring-for-newborns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7F6B17-F299-A158-A26D-47FCD7A197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6319" y="4325332"/>
            <a:ext cx="5885179" cy="5334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https://www.who.int/data/gho/publications/world-health-statistics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5FE4BA-08C1-FBA0-844E-67EA006290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4241" y="4963281"/>
            <a:ext cx="5885179" cy="5334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https://www.pregnancybirthbaby.org.au/sleep-patterns-for-babies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24B3C1A-3346-F617-2EC7-C16586CF19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4241" y="1855748"/>
            <a:ext cx="5885179" cy="5334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https://www.pinterest.com/pin/24558760464136743/</a:t>
            </a:r>
          </a:p>
        </p:txBody>
      </p:sp>
    </p:spTree>
    <p:extLst>
      <p:ext uri="{BB962C8B-B14F-4D97-AF65-F5344CB8AC3E}">
        <p14:creationId xmlns:p14="http://schemas.microsoft.com/office/powerpoint/2010/main" val="2454120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8587" y="2834916"/>
            <a:ext cx="4786877" cy="151831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A35CD3A-9896-7953-C82D-AAE87F6124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77" y="6843"/>
            <a:ext cx="6814124" cy="6864604"/>
          </a:xfr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A784F2EB-8377-40E2-878D-F359E4F7734D}" vid="{87F4C17B-0668-4D7F-80F5-6507D8EFBB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15CCAF-B227-4420-8A82-899C4EC33714}">
  <ds:schemaRefs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  <ds:schemaRef ds:uri="230e9df3-be65-4c73-a93b-d1236ebd677e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9BB42C3-98F0-4E09-AE96-62EE07CAC5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9EAE05-2D90-4440-A098-2E114DBDB54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740</Words>
  <Application>Microsoft Office PowerPoint</Application>
  <PresentationFormat>Widescreen</PresentationFormat>
  <Paragraphs>111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Book Antiqua</vt:lpstr>
      <vt:lpstr>Calibri</vt:lpstr>
      <vt:lpstr>Century Gothic</vt:lpstr>
      <vt:lpstr>Courier New</vt:lpstr>
      <vt:lpstr>Raleway ExtraBold</vt:lpstr>
      <vt:lpstr>Wingdings</vt:lpstr>
      <vt:lpstr>Custom</vt:lpstr>
      <vt:lpstr>BabyHelper AI</vt:lpstr>
      <vt:lpstr>Group Members:</vt:lpstr>
      <vt:lpstr>Table of Contents:</vt:lpstr>
      <vt:lpstr>INTRODUCTION:</vt:lpstr>
      <vt:lpstr>PROPOSED APPROACH</vt:lpstr>
      <vt:lpstr>Existing Solutions</vt:lpstr>
      <vt:lpstr>BabyHelper_AI</vt:lpstr>
      <vt:lpstr>Functional Requirements </vt:lpstr>
      <vt:lpstr>Non-Functional Requirements </vt:lpstr>
      <vt:lpstr>Modules of the project </vt:lpstr>
      <vt:lpstr>Use-Case Diagram</vt:lpstr>
      <vt:lpstr>Activity Diagram</vt:lpstr>
      <vt:lpstr>Real Time Testing</vt:lpstr>
      <vt:lpstr>Testing Overview </vt:lpstr>
      <vt:lpstr>Future Enhancements  </vt:lpstr>
      <vt:lpstr>Limitations: </vt:lpstr>
      <vt:lpstr>Conclusions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2023-07-18T15:28:54Z</dcterms:created>
  <dcterms:modified xsi:type="dcterms:W3CDTF">2026-05-08T04:45:19Z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